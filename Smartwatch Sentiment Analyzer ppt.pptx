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12/3/2025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CF42-2721-4017-BF7B-1E849084D2BE}"/>
              </a:ext>
            </a:extLst>
          </p:cNvPr>
          <p:cNvSpPr>
            <a:spLocks noGrp="1"/>
          </p:cNvSpPr>
          <p:nvPr>
            <p:ph type="ctrTitle"/>
          </p:nvPr>
        </p:nvSpPr>
        <p:spPr>
          <a:xfrm>
            <a:off x="2237173" y="727969"/>
            <a:ext cx="7235301" cy="3119899"/>
          </a:xfrm>
        </p:spPr>
        <p:txBody>
          <a:bodyPr>
            <a:noAutofit/>
          </a:bodyPr>
          <a:lstStyle/>
          <a:p>
            <a:pPr algn="ctr"/>
            <a:r>
              <a:rPr lang="en-US" sz="6000" b="1" dirty="0">
                <a:latin typeface="Times New Roman" panose="02020603050405020304" pitchFamily="18" charset="0"/>
                <a:cs typeface="Times New Roman" panose="02020603050405020304" pitchFamily="18" charset="0"/>
              </a:rPr>
              <a:t>SMARTWATCH SENTIMENT ANALYZER</a:t>
            </a:r>
            <a:endParaRPr lang="en-IN" sz="6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DCF03CE-8869-46FB-8485-D5BD5D434234}"/>
              </a:ext>
            </a:extLst>
          </p:cNvPr>
          <p:cNvPicPr>
            <a:picLocks noChangeAspect="1"/>
          </p:cNvPicPr>
          <p:nvPr/>
        </p:nvPicPr>
        <p:blipFill>
          <a:blip r:embed="rId2"/>
          <a:stretch>
            <a:fillRect/>
          </a:stretch>
        </p:blipFill>
        <p:spPr>
          <a:xfrm>
            <a:off x="8522563" y="3240350"/>
            <a:ext cx="3367597" cy="3119899"/>
          </a:xfrm>
          <a:prstGeom prst="rect">
            <a:avLst/>
          </a:prstGeom>
        </p:spPr>
      </p:pic>
    </p:spTree>
    <p:extLst>
      <p:ext uri="{BB962C8B-B14F-4D97-AF65-F5344CB8AC3E}">
        <p14:creationId xmlns:p14="http://schemas.microsoft.com/office/powerpoint/2010/main" val="826346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15767-2849-49DD-81D9-B162D67931B7}"/>
              </a:ext>
            </a:extLst>
          </p:cNvPr>
          <p:cNvSpPr>
            <a:spLocks noGrp="1"/>
          </p:cNvSpPr>
          <p:nvPr>
            <p:ph type="title"/>
          </p:nvPr>
        </p:nvSpPr>
        <p:spPr>
          <a:xfrm>
            <a:off x="2592925" y="1065320"/>
            <a:ext cx="8911687" cy="839680"/>
          </a:xfrm>
        </p:spPr>
        <p:txBody>
          <a:bodyPr/>
          <a:lstStyle/>
          <a:p>
            <a:r>
              <a:rPr lang="en-US" b="1" dirty="0">
                <a:latin typeface="Times New Roman" panose="02020603050405020304" pitchFamily="18" charset="0"/>
                <a:cs typeface="Times New Roman" panose="02020603050405020304" pitchFamily="18" charset="0"/>
              </a:rPr>
              <a:t>GROUP MEMBERS: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5547F8-D88B-468F-8B98-D849E6A48228}"/>
              </a:ext>
            </a:extLst>
          </p:cNvPr>
          <p:cNvSpPr>
            <a:spLocks noGrp="1"/>
          </p:cNvSpPr>
          <p:nvPr>
            <p:ph idx="1"/>
          </p:nvPr>
        </p:nvSpPr>
        <p:spPr>
          <a:xfrm>
            <a:off x="2589212" y="2610034"/>
            <a:ext cx="8632163" cy="3301187"/>
          </a:xfrm>
        </p:spPr>
        <p:txBody>
          <a:bodyPr>
            <a:normAutofit/>
          </a:bodyPr>
          <a:lstStyle/>
          <a:p>
            <a:pPr marL="0" indent="0" algn="ctr">
              <a:buNone/>
            </a:pPr>
            <a:r>
              <a:rPr lang="en-IN" sz="2000" b="1" dirty="0">
                <a:latin typeface="Times New Roman" panose="02020603050405020304" pitchFamily="18" charset="0"/>
                <a:cs typeface="Times New Roman" panose="02020603050405020304" pitchFamily="18" charset="0"/>
              </a:rPr>
              <a:t>Thavanesh Krishna - AP23110010619</a:t>
            </a:r>
          </a:p>
          <a:p>
            <a:pPr marL="0" indent="0" algn="ctr">
              <a:buNone/>
            </a:pPr>
            <a:r>
              <a:rPr lang="en-IN" sz="2000" b="1" dirty="0">
                <a:latin typeface="Times New Roman" panose="02020603050405020304" pitchFamily="18" charset="0"/>
                <a:cs typeface="Times New Roman" panose="02020603050405020304" pitchFamily="18" charset="0"/>
              </a:rPr>
              <a:t>Murali Krishna - AP23110010656</a:t>
            </a:r>
          </a:p>
          <a:p>
            <a:pPr marL="0" indent="0" algn="ctr">
              <a:buNone/>
            </a:pPr>
            <a:r>
              <a:rPr lang="en-IN" sz="2000" b="1" dirty="0">
                <a:latin typeface="Times New Roman" panose="02020603050405020304" pitchFamily="18" charset="0"/>
                <a:cs typeface="Times New Roman" panose="02020603050405020304" pitchFamily="18" charset="0"/>
              </a:rPr>
              <a:t>Harshavardhini - AP23110011144</a:t>
            </a:r>
          </a:p>
          <a:p>
            <a:pPr marL="0" indent="0" algn="ctr">
              <a:buNone/>
            </a:pPr>
            <a:r>
              <a:rPr lang="en-IN" sz="2000" b="1" dirty="0">
                <a:latin typeface="Times New Roman" panose="02020603050405020304" pitchFamily="18" charset="0"/>
                <a:cs typeface="Times New Roman" panose="02020603050405020304" pitchFamily="18" charset="0"/>
              </a:rPr>
              <a:t>Mahasvin - AP23110010075</a:t>
            </a:r>
          </a:p>
          <a:p>
            <a:pPr marL="0" indent="0" algn="ctr">
              <a:buNone/>
            </a:pPr>
            <a:r>
              <a:rPr lang="en-IN" sz="2000" b="1" dirty="0">
                <a:latin typeface="Times New Roman" panose="02020603050405020304" pitchFamily="18" charset="0"/>
                <a:cs typeface="Times New Roman" panose="02020603050405020304" pitchFamily="18" charset="0"/>
              </a:rPr>
              <a:t>B.Saicharan - AP23110010173</a:t>
            </a:r>
          </a:p>
        </p:txBody>
      </p:sp>
    </p:spTree>
    <p:extLst>
      <p:ext uri="{BB962C8B-B14F-4D97-AF65-F5344CB8AC3E}">
        <p14:creationId xmlns:p14="http://schemas.microsoft.com/office/powerpoint/2010/main" val="3025266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53FD6-1C4D-4936-A9CE-9767D60B5E04}"/>
              </a:ext>
            </a:extLst>
          </p:cNvPr>
          <p:cNvSpPr>
            <a:spLocks noGrp="1"/>
          </p:cNvSpPr>
          <p:nvPr>
            <p:ph type="title"/>
          </p:nvPr>
        </p:nvSpPr>
        <p:spPr>
          <a:xfrm>
            <a:off x="2592925" y="624110"/>
            <a:ext cx="7438842" cy="1280890"/>
          </a:xfrm>
        </p:spPr>
        <p:txBody>
          <a:bodyPr/>
          <a:lstStyle/>
          <a:p>
            <a:r>
              <a:rPr lang="en-US" b="1" dirty="0">
                <a:latin typeface="Times New Roman" panose="02020603050405020304" pitchFamily="18" charset="0"/>
                <a:cs typeface="Times New Roman" panose="02020603050405020304" pitchFamily="18" charset="0"/>
              </a:rPr>
              <a:t>PROBLEM STATEMENT &amp; OBJECTIVES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143AC0-7803-498F-8C08-D48C6A3B88E5}"/>
              </a:ext>
            </a:extLst>
          </p:cNvPr>
          <p:cNvSpPr>
            <a:spLocks noGrp="1"/>
          </p:cNvSpPr>
          <p:nvPr>
            <p:ph idx="1"/>
          </p:nvPr>
        </p:nvSpPr>
        <p:spPr>
          <a:xfrm>
            <a:off x="2589212" y="2133600"/>
            <a:ext cx="4326493" cy="3777622"/>
          </a:xfrm>
        </p:spPr>
        <p:txBody>
          <a:bodyPr/>
          <a:lstStyle/>
          <a:p>
            <a:pPr marL="0" indent="0">
              <a:buNone/>
            </a:pPr>
            <a:r>
              <a:rPr lang="en-US" b="1" dirty="0">
                <a:latin typeface="Times New Roman" panose="02020603050405020304" pitchFamily="18" charset="0"/>
                <a:cs typeface="Times New Roman" panose="02020603050405020304" pitchFamily="18" charset="0"/>
              </a:rPr>
              <a:t>Problem Statement:</a:t>
            </a:r>
          </a:p>
          <a:p>
            <a:pPr marL="0" indent="0">
              <a:buNone/>
            </a:pPr>
            <a:r>
              <a:rPr lang="en-US" dirty="0">
                <a:latin typeface="Times New Roman" panose="02020603050405020304" pitchFamily="18" charset="0"/>
                <a:cs typeface="Times New Roman" panose="02020603050405020304" pitchFamily="18" charset="0"/>
              </a:rPr>
              <a:t>Salesforce SmartBridge Company wants a simple and efficient way to understand customer opinions from smartwatch reviews. Since reviews often contain mixed or unclear feedback, the company needs a tool that can automatically identify whether a review is positive, negative, or neutral. The goal is to identify customer sentiment and improve product development.</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97A070F-EDFB-41FC-B594-269128333246}"/>
              </a:ext>
            </a:extLst>
          </p:cNvPr>
          <p:cNvSpPr txBox="1"/>
          <p:nvPr/>
        </p:nvSpPr>
        <p:spPr>
          <a:xfrm>
            <a:off x="7261935" y="3195961"/>
            <a:ext cx="4500978" cy="286232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Objectives: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a user-friendly sentiment analysis tool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Automatically classify customer reviews into Positive, Negative, or Neutral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 the company gather actionable insights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product development based on customer feedback</a:t>
            </a:r>
          </a:p>
          <a:p>
            <a:endParaRPr lang="en-IN" dirty="0"/>
          </a:p>
        </p:txBody>
      </p:sp>
    </p:spTree>
    <p:extLst>
      <p:ext uri="{BB962C8B-B14F-4D97-AF65-F5344CB8AC3E}">
        <p14:creationId xmlns:p14="http://schemas.microsoft.com/office/powerpoint/2010/main" val="308889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88FB9-C142-4DBA-9B90-AF620B847E8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a:t>
            </a:r>
            <a:r>
              <a:rPr lang="en-IN" b="1" dirty="0">
                <a:latin typeface="Times New Roman" panose="02020603050405020304" pitchFamily="18" charset="0"/>
                <a:cs typeface="Times New Roman" panose="02020603050405020304" pitchFamily="18" charset="0"/>
              </a:rPr>
              <a:t>ROPOSED SOLUTION &amp; WORKFLOW</a:t>
            </a:r>
          </a:p>
        </p:txBody>
      </p:sp>
      <p:sp>
        <p:nvSpPr>
          <p:cNvPr id="3" name="Content Placeholder 2">
            <a:extLst>
              <a:ext uri="{FF2B5EF4-FFF2-40B4-BE49-F238E27FC236}">
                <a16:creationId xmlns:a16="http://schemas.microsoft.com/office/drawing/2014/main" id="{2DBB37A5-10C9-4D47-B711-BC0491D12D91}"/>
              </a:ext>
            </a:extLst>
          </p:cNvPr>
          <p:cNvSpPr>
            <a:spLocks noGrp="1"/>
          </p:cNvSpPr>
          <p:nvPr>
            <p:ph idx="1"/>
          </p:nvPr>
        </p:nvSpPr>
        <p:spPr>
          <a:xfrm>
            <a:off x="2894120" y="1793289"/>
            <a:ext cx="5539666" cy="4117933"/>
          </a:xfrm>
        </p:spPr>
        <p:txBody>
          <a:bodyPr/>
          <a:lstStyle/>
          <a:p>
            <a:pPr marL="0" indent="0">
              <a:buNone/>
            </a:pPr>
            <a:r>
              <a:rPr lang="en-US" b="1" dirty="0">
                <a:latin typeface="Times New Roman" panose="02020603050405020304" pitchFamily="18" charset="0"/>
                <a:cs typeface="Times New Roman" panose="02020603050405020304" pitchFamily="18" charset="0"/>
              </a:rPr>
              <a:t>Streamlit Web App for Real-Time Sentiment Analysis</a:t>
            </a:r>
          </a:p>
          <a:p>
            <a:r>
              <a:rPr lang="en-IN" dirty="0">
                <a:latin typeface="Times New Roman" panose="02020603050405020304" pitchFamily="18" charset="0"/>
                <a:cs typeface="Times New Roman" panose="02020603050405020304" pitchFamily="18" charset="0"/>
              </a:rPr>
              <a:t>A lightweight Streamlit web application that analyzes customer review text using the TextBlob sentiment polarity method.</a:t>
            </a:r>
          </a:p>
          <a:p>
            <a:pPr marL="0" indent="0">
              <a:buNone/>
            </a:pPr>
            <a:r>
              <a:rPr lang="en-IN" b="1" dirty="0">
                <a:latin typeface="Times New Roman" panose="02020603050405020304" pitchFamily="18" charset="0"/>
                <a:cs typeface="Times New Roman" panose="02020603050405020304" pitchFamily="18" charset="0"/>
              </a:rPr>
              <a:t>Workflow:</a:t>
            </a:r>
          </a:p>
          <a:p>
            <a:r>
              <a:rPr lang="en-IN" dirty="0">
                <a:latin typeface="Times New Roman" panose="02020603050405020304" pitchFamily="18" charset="0"/>
                <a:cs typeface="Times New Roman" panose="02020603050405020304" pitchFamily="18" charset="0"/>
              </a:rPr>
              <a:t>User enters a smartwatch review</a:t>
            </a:r>
          </a:p>
          <a:p>
            <a:r>
              <a:rPr lang="en-IN" dirty="0">
                <a:latin typeface="Times New Roman" panose="02020603050405020304" pitchFamily="18" charset="0"/>
                <a:cs typeface="Times New Roman" panose="02020603050405020304" pitchFamily="18" charset="0"/>
              </a:rPr>
              <a:t>App extracts text input</a:t>
            </a:r>
          </a:p>
          <a:p>
            <a:r>
              <a:rPr lang="en-IN" dirty="0">
                <a:latin typeface="Times New Roman" panose="02020603050405020304" pitchFamily="18" charset="0"/>
                <a:cs typeface="Times New Roman" panose="02020603050405020304" pitchFamily="18" charset="0"/>
              </a:rPr>
              <a:t>TextBlob calculates polarity score (−1 to +1)</a:t>
            </a:r>
          </a:p>
          <a:p>
            <a:r>
              <a:rPr lang="en-IN" dirty="0">
                <a:latin typeface="Times New Roman" panose="02020603050405020304" pitchFamily="18" charset="0"/>
                <a:cs typeface="Times New Roman" panose="02020603050405020304" pitchFamily="18" charset="0"/>
              </a:rPr>
              <a:t>Polarity → Sentiment category</a:t>
            </a:r>
          </a:p>
          <a:p>
            <a:r>
              <a:rPr lang="en-IN" dirty="0">
                <a:latin typeface="Times New Roman" panose="02020603050405020304" pitchFamily="18" charset="0"/>
                <a:cs typeface="Times New Roman" panose="02020603050405020304" pitchFamily="18" charset="0"/>
              </a:rPr>
              <a:t>Sentiment displayed to the user</a:t>
            </a:r>
          </a:p>
          <a:p>
            <a:pPr marL="0" indent="0">
              <a:buNone/>
            </a:pPr>
            <a:endParaRPr lang="en-IN" dirty="0"/>
          </a:p>
        </p:txBody>
      </p:sp>
      <p:pic>
        <p:nvPicPr>
          <p:cNvPr id="4" name="Picture 3">
            <a:extLst>
              <a:ext uri="{FF2B5EF4-FFF2-40B4-BE49-F238E27FC236}">
                <a16:creationId xmlns:a16="http://schemas.microsoft.com/office/drawing/2014/main" id="{5A5BDC33-9516-4DFF-8162-9262570034E4}"/>
              </a:ext>
            </a:extLst>
          </p:cNvPr>
          <p:cNvPicPr>
            <a:picLocks noChangeAspect="1"/>
          </p:cNvPicPr>
          <p:nvPr/>
        </p:nvPicPr>
        <p:blipFill>
          <a:blip r:embed="rId2"/>
          <a:stretch>
            <a:fillRect/>
          </a:stretch>
        </p:blipFill>
        <p:spPr>
          <a:xfrm>
            <a:off x="8504808" y="1793289"/>
            <a:ext cx="2555920" cy="4243527"/>
          </a:xfrm>
          <a:prstGeom prst="rect">
            <a:avLst/>
          </a:prstGeom>
        </p:spPr>
      </p:pic>
    </p:spTree>
    <p:extLst>
      <p:ext uri="{BB962C8B-B14F-4D97-AF65-F5344CB8AC3E}">
        <p14:creationId xmlns:p14="http://schemas.microsoft.com/office/powerpoint/2010/main" val="2215110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62CA7-55A2-456F-A926-4AAD9655ECFF}"/>
              </a:ext>
            </a:extLst>
          </p:cNvPr>
          <p:cNvSpPr>
            <a:spLocks noGrp="1"/>
          </p:cNvSpPr>
          <p:nvPr>
            <p:ph type="title"/>
          </p:nvPr>
        </p:nvSpPr>
        <p:spPr>
          <a:xfrm>
            <a:off x="2592925" y="781234"/>
            <a:ext cx="8911687" cy="1123765"/>
          </a:xfrm>
        </p:spPr>
        <p:txBody>
          <a:bodyPr/>
          <a:lstStyle/>
          <a:p>
            <a:r>
              <a:rPr lang="en-US" b="1" dirty="0">
                <a:latin typeface="Times New Roman" panose="02020603050405020304" pitchFamily="18" charset="0"/>
                <a:cs typeface="Times New Roman" panose="02020603050405020304" pitchFamily="18" charset="0"/>
              </a:rPr>
              <a:t>DATASET &amp; METHADOLOGY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194759-3A66-4671-BF92-DB952901D496}"/>
              </a:ext>
            </a:extLst>
          </p:cNvPr>
          <p:cNvSpPr>
            <a:spLocks noGrp="1"/>
          </p:cNvSpPr>
          <p:nvPr>
            <p:ph idx="1"/>
          </p:nvPr>
        </p:nvSpPr>
        <p:spPr>
          <a:xfrm>
            <a:off x="2589212" y="1624613"/>
            <a:ext cx="7717763" cy="4527611"/>
          </a:xfrm>
        </p:spPr>
        <p:txBody>
          <a:bodyPr>
            <a:normAutofit fontScale="85000" lnSpcReduction="10000"/>
          </a:bodyPr>
          <a:lstStyle/>
          <a:p>
            <a:pPr marL="0" indent="0">
              <a:buNone/>
            </a:pPr>
            <a:r>
              <a:rPr lang="en-US" sz="1900" b="1" dirty="0">
                <a:latin typeface="Times New Roman" panose="02020603050405020304" pitchFamily="18" charset="0"/>
                <a:cs typeface="Times New Roman" panose="02020603050405020304" pitchFamily="18" charset="0"/>
              </a:rPr>
              <a:t>Dataset:</a:t>
            </a:r>
            <a:endParaRPr lang="en-IN" sz="19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Smartwatch_genai.csv(</a:t>
            </a:r>
            <a:r>
              <a:rPr lang="en-IN" dirty="0">
                <a:latin typeface="Times New Roman" panose="02020603050405020304" pitchFamily="18" charset="0"/>
                <a:cs typeface="Times New Roman" panose="02020603050405020304" pitchFamily="18" charset="0"/>
              </a:rPr>
              <a:t>1,597+ customer reviews)</a:t>
            </a:r>
          </a:p>
          <a:p>
            <a:r>
              <a:rPr lang="en-US" dirty="0">
                <a:latin typeface="Times New Roman" panose="02020603050405020304" pitchFamily="18" charset="0"/>
                <a:cs typeface="Times New Roman" panose="02020603050405020304" pitchFamily="18" charset="0"/>
              </a:rPr>
              <a:t>This dataset provides </a:t>
            </a:r>
            <a:r>
              <a:rPr lang="en-US" b="1" dirty="0">
                <a:latin typeface="Times New Roman" panose="02020603050405020304" pitchFamily="18" charset="0"/>
                <a:cs typeface="Times New Roman" panose="02020603050405020304" pitchFamily="18" charset="0"/>
              </a:rPr>
              <a:t>27 features</a:t>
            </a:r>
            <a:r>
              <a:rPr lang="en-US" dirty="0">
                <a:latin typeface="Times New Roman" panose="02020603050405020304" pitchFamily="18" charset="0"/>
                <a:cs typeface="Times New Roman" panose="02020603050405020304" pitchFamily="18" charset="0"/>
              </a:rPr>
              <a:t>, including product brand, categories, dimensions-allowing both product-level and review-level analysis.</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dataset includes detailed review texts, ratings, and titles, making it suitable for </a:t>
            </a:r>
            <a:r>
              <a:rPr lang="en-US" b="1" dirty="0">
                <a:latin typeface="Times New Roman" panose="02020603050405020304" pitchFamily="18" charset="0"/>
                <a:cs typeface="Times New Roman" panose="02020603050405020304" pitchFamily="18" charset="0"/>
              </a:rPr>
              <a:t>sentiment analysis, opinion mining, and customer feedback analytics</a:t>
            </a:r>
            <a:r>
              <a:rPr lang="en-US" dirty="0">
                <a:latin typeface="Times New Roman" panose="02020603050405020304" pitchFamily="18" charset="0"/>
                <a:cs typeface="Times New Roman" panose="02020603050405020304" pitchFamily="18" charset="0"/>
              </a:rPr>
              <a:t> for smartwatch products.</a:t>
            </a:r>
            <a:endParaRPr lang="en-IN" dirty="0">
              <a:latin typeface="Times New Roman" panose="02020603050405020304" pitchFamily="18" charset="0"/>
              <a:cs typeface="Times New Roman" panose="02020603050405020304" pitchFamily="18" charset="0"/>
            </a:endParaRPr>
          </a:p>
          <a:p>
            <a:pPr marL="0" indent="0">
              <a:buNone/>
            </a:pPr>
            <a:r>
              <a:rPr lang="en-IN" sz="1900" b="1" dirty="0">
                <a:latin typeface="Times New Roman" panose="02020603050405020304" pitchFamily="18" charset="0"/>
                <a:cs typeface="Times New Roman" panose="02020603050405020304" pitchFamily="18" charset="0"/>
              </a:rPr>
              <a:t>Methodology:</a:t>
            </a:r>
          </a:p>
          <a:p>
            <a:r>
              <a:rPr lang="en-IN" dirty="0">
                <a:latin typeface="Times New Roman" panose="02020603050405020304" pitchFamily="18" charset="0"/>
                <a:cs typeface="Times New Roman" panose="02020603050405020304" pitchFamily="18" charset="0"/>
              </a:rPr>
              <a:t>Classical ML Models</a:t>
            </a:r>
          </a:p>
          <a:p>
            <a:pPr marL="0" indent="0">
              <a:buNone/>
            </a:pPr>
            <a:r>
              <a:rPr lang="en-IN" dirty="0">
                <a:latin typeface="Times New Roman" panose="02020603050405020304" pitchFamily="18" charset="0"/>
                <a:cs typeface="Times New Roman" panose="02020603050405020304" pitchFamily="18" charset="0"/>
              </a:rPr>
              <a:t> Logistic Regression, Random Forest, SVM, etc.</a:t>
            </a:r>
          </a:p>
          <a:p>
            <a:pPr marL="0" indent="0">
              <a:buNone/>
            </a:pPr>
            <a:r>
              <a:rPr lang="en-IN" dirty="0">
                <a:latin typeface="Times New Roman" panose="02020603050405020304" pitchFamily="18" charset="0"/>
                <a:cs typeface="Times New Roman" panose="02020603050405020304" pitchFamily="18" charset="0"/>
              </a:rPr>
              <a:t>Result: &lt;50% accuracy</a:t>
            </a:r>
          </a:p>
          <a:p>
            <a:r>
              <a:rPr lang="en-IN" dirty="0">
                <a:latin typeface="Times New Roman" panose="02020603050405020304" pitchFamily="18" charset="0"/>
                <a:cs typeface="Times New Roman" panose="02020603050405020304" pitchFamily="18" charset="0"/>
              </a:rPr>
              <a:t>Apply TextBlob sentiment polarity</a:t>
            </a:r>
          </a:p>
          <a:p>
            <a:pPr marL="0" indent="0">
              <a:buNone/>
            </a:pPr>
            <a:r>
              <a:rPr lang="en-IN" dirty="0">
                <a:latin typeface="Times New Roman" panose="02020603050405020304" pitchFamily="18" charset="0"/>
                <a:cs typeface="Times New Roman" panose="02020603050405020304" pitchFamily="18" charset="0"/>
              </a:rPr>
              <a:t>Polarity &gt; 0 → Positive</a:t>
            </a:r>
          </a:p>
          <a:p>
            <a:pPr marL="0" indent="0">
              <a:buNone/>
            </a:pPr>
            <a:r>
              <a:rPr lang="en-IN" dirty="0">
                <a:latin typeface="Times New Roman" panose="02020603050405020304" pitchFamily="18" charset="0"/>
                <a:cs typeface="Times New Roman" panose="02020603050405020304" pitchFamily="18" charset="0"/>
              </a:rPr>
              <a:t> Polarity &lt; 0 → Negative</a:t>
            </a:r>
          </a:p>
          <a:p>
            <a:pPr marL="0" indent="0">
              <a:buNone/>
            </a:pPr>
            <a:r>
              <a:rPr lang="en-IN" dirty="0">
                <a:latin typeface="Times New Roman" panose="02020603050405020304" pitchFamily="18" charset="0"/>
                <a:cs typeface="Times New Roman" panose="02020603050405020304" pitchFamily="18" charset="0"/>
              </a:rPr>
              <a:t> Polarity = 0 → Neutral</a:t>
            </a:r>
          </a:p>
        </p:txBody>
      </p:sp>
    </p:spTree>
    <p:extLst>
      <p:ext uri="{BB962C8B-B14F-4D97-AF65-F5344CB8AC3E}">
        <p14:creationId xmlns:p14="http://schemas.microsoft.com/office/powerpoint/2010/main" val="136317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E296-5BDE-43AA-8962-16C99866B522}"/>
              </a:ext>
            </a:extLst>
          </p:cNvPr>
          <p:cNvSpPr>
            <a:spLocks noGrp="1"/>
          </p:cNvSpPr>
          <p:nvPr>
            <p:ph type="title"/>
          </p:nvPr>
        </p:nvSpPr>
        <p:spPr>
          <a:xfrm>
            <a:off x="2592925" y="946778"/>
            <a:ext cx="8911687" cy="958222"/>
          </a:xfrm>
        </p:spPr>
        <p:txBody>
          <a:bodyPr/>
          <a:lstStyle/>
          <a:p>
            <a:r>
              <a:rPr lang="en-US" b="1" dirty="0">
                <a:latin typeface="Times New Roman" panose="02020603050405020304" pitchFamily="18" charset="0"/>
                <a:cs typeface="Times New Roman" panose="02020603050405020304" pitchFamily="18" charset="0"/>
              </a:rPr>
              <a:t>TECHNOLOGIES USED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133862-9C77-467B-908B-4EB58A7F389A}"/>
              </a:ext>
            </a:extLst>
          </p:cNvPr>
          <p:cNvSpPr>
            <a:spLocks noGrp="1"/>
          </p:cNvSpPr>
          <p:nvPr>
            <p:ph idx="1"/>
          </p:nvPr>
        </p:nvSpPr>
        <p:spPr/>
        <p:txBody>
          <a:bodyPr>
            <a:normAutofit fontScale="92500" lnSpcReduction="20000"/>
          </a:bodyPr>
          <a:lstStyle/>
          <a:p>
            <a:r>
              <a:rPr lang="en-IN" b="1" dirty="0">
                <a:latin typeface="Times New Roman" panose="02020603050405020304" pitchFamily="18" charset="0"/>
                <a:cs typeface="Times New Roman" panose="02020603050405020304" pitchFamily="18" charset="0"/>
              </a:rPr>
              <a:t>Streamlit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Streamlit enables rapid development of interactive web applications.</a:t>
            </a:r>
          </a:p>
          <a:p>
            <a:r>
              <a:rPr lang="en-IN" b="1" dirty="0">
                <a:latin typeface="Times New Roman" panose="02020603050405020304" pitchFamily="18" charset="0"/>
                <a:cs typeface="Times New Roman" panose="02020603050405020304" pitchFamily="18" charset="0"/>
              </a:rPr>
              <a:t>TextBlob</a:t>
            </a:r>
          </a:p>
          <a:p>
            <a:pPr marL="0" indent="0">
              <a:buNone/>
            </a:pPr>
            <a:r>
              <a:rPr lang="en-US" dirty="0">
                <a:latin typeface="Times New Roman" panose="02020603050405020304" pitchFamily="18" charset="0"/>
                <a:cs typeface="Times New Roman" panose="02020603050405020304" pitchFamily="18" charset="0"/>
              </a:rPr>
              <a:t>Used for:</a:t>
            </a:r>
          </a:p>
          <a:p>
            <a:pPr marL="0" indent="0">
              <a:buNone/>
            </a:pPr>
            <a:r>
              <a:rPr lang="en-US" dirty="0">
                <a:latin typeface="Times New Roman" panose="02020603050405020304" pitchFamily="18" charset="0"/>
                <a:cs typeface="Times New Roman" panose="02020603050405020304" pitchFamily="18" charset="0"/>
              </a:rPr>
              <a:t>Sentiment polarity calculation</a:t>
            </a:r>
          </a:p>
          <a:p>
            <a:pPr marL="0" indent="0">
              <a:buNone/>
            </a:pPr>
            <a:r>
              <a:rPr lang="en-US" dirty="0">
                <a:latin typeface="Times New Roman" panose="02020603050405020304" pitchFamily="18" charset="0"/>
                <a:cs typeface="Times New Roman" panose="02020603050405020304" pitchFamily="18" charset="0"/>
              </a:rPr>
              <a:t>Sentence detection</a:t>
            </a:r>
          </a:p>
          <a:p>
            <a:pPr marL="0" indent="0">
              <a:buNone/>
            </a:pPr>
            <a:r>
              <a:rPr lang="en-US" dirty="0">
                <a:latin typeface="Times New Roman" panose="02020603050405020304" pitchFamily="18" charset="0"/>
                <a:cs typeface="Times New Roman" panose="02020603050405020304" pitchFamily="18" charset="0"/>
              </a:rPr>
              <a:t>Classification into positive/negative/neutral.</a:t>
            </a:r>
          </a:p>
          <a:p>
            <a:r>
              <a:rPr lang="en-IN" b="1" dirty="0">
                <a:latin typeface="Times New Roman" panose="02020603050405020304" pitchFamily="18" charset="0"/>
                <a:cs typeface="Times New Roman" panose="02020603050405020304" pitchFamily="18" charset="0"/>
              </a:rPr>
              <a:t>Python</a:t>
            </a:r>
            <a:endParaRPr lang="en-US"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Python is a versatile programming language for data analysis.</a:t>
            </a:r>
          </a:p>
          <a:p>
            <a:r>
              <a:rPr lang="en-IN" b="1" dirty="0">
                <a:latin typeface="Times New Roman" panose="02020603050405020304" pitchFamily="18" charset="0"/>
                <a:cs typeface="Times New Roman" panose="02020603050405020304" pitchFamily="18" charset="0"/>
              </a:rPr>
              <a:t>VS Code</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Integrated Development Environments streamline coding and debugging processes.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9043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92D65-047E-47B6-A316-4B00235D2D88}"/>
              </a:ext>
            </a:extLst>
          </p:cNvPr>
          <p:cNvSpPr>
            <a:spLocks noGrp="1"/>
          </p:cNvSpPr>
          <p:nvPr>
            <p:ph type="title"/>
          </p:nvPr>
        </p:nvSpPr>
        <p:spPr>
          <a:xfrm>
            <a:off x="1642369" y="230820"/>
            <a:ext cx="9374819" cy="825624"/>
          </a:xfrm>
        </p:spPr>
        <p:txBody>
          <a:bodyPr>
            <a:normAutofit/>
          </a:bodyPr>
          <a:lstStyle/>
          <a:p>
            <a:r>
              <a:rPr lang="en-US" b="1" dirty="0">
                <a:latin typeface="Times New Roman" panose="02020603050405020304" pitchFamily="18" charset="0"/>
                <a:cs typeface="Times New Roman" panose="02020603050405020304" pitchFamily="18" charset="0"/>
              </a:rPr>
              <a:t>RESULTS &amp; FINDINGS </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7C9F297-03A8-4B0E-B00A-6052A91C6CD5}"/>
              </a:ext>
            </a:extLst>
          </p:cNvPr>
          <p:cNvPicPr>
            <a:picLocks noChangeAspect="1"/>
          </p:cNvPicPr>
          <p:nvPr/>
        </p:nvPicPr>
        <p:blipFill>
          <a:blip r:embed="rId2"/>
          <a:stretch>
            <a:fillRect/>
          </a:stretch>
        </p:blipFill>
        <p:spPr>
          <a:xfrm>
            <a:off x="6596109" y="858916"/>
            <a:ext cx="5403543" cy="2372557"/>
          </a:xfrm>
          <a:prstGeom prst="rect">
            <a:avLst/>
          </a:prstGeom>
        </p:spPr>
      </p:pic>
      <p:pic>
        <p:nvPicPr>
          <p:cNvPr id="5" name="Picture 4">
            <a:extLst>
              <a:ext uri="{FF2B5EF4-FFF2-40B4-BE49-F238E27FC236}">
                <a16:creationId xmlns:a16="http://schemas.microsoft.com/office/drawing/2014/main" id="{29D4B9B3-3DD3-4A10-940B-DF089C8D4905}"/>
              </a:ext>
            </a:extLst>
          </p:cNvPr>
          <p:cNvPicPr>
            <a:picLocks noChangeAspect="1"/>
          </p:cNvPicPr>
          <p:nvPr/>
        </p:nvPicPr>
        <p:blipFill>
          <a:blip r:embed="rId3"/>
          <a:stretch>
            <a:fillRect/>
          </a:stretch>
        </p:blipFill>
        <p:spPr>
          <a:xfrm>
            <a:off x="374340" y="3329126"/>
            <a:ext cx="11512860" cy="3528874"/>
          </a:xfrm>
          <a:prstGeom prst="rect">
            <a:avLst/>
          </a:prstGeom>
        </p:spPr>
      </p:pic>
      <p:pic>
        <p:nvPicPr>
          <p:cNvPr id="7" name="Picture 6">
            <a:extLst>
              <a:ext uri="{FF2B5EF4-FFF2-40B4-BE49-F238E27FC236}">
                <a16:creationId xmlns:a16="http://schemas.microsoft.com/office/drawing/2014/main" id="{9532134C-6C83-4EF5-8792-0A1190E01503}"/>
              </a:ext>
            </a:extLst>
          </p:cNvPr>
          <p:cNvPicPr>
            <a:picLocks noChangeAspect="1"/>
          </p:cNvPicPr>
          <p:nvPr/>
        </p:nvPicPr>
        <p:blipFill>
          <a:blip r:embed="rId4"/>
          <a:stretch>
            <a:fillRect/>
          </a:stretch>
        </p:blipFill>
        <p:spPr>
          <a:xfrm>
            <a:off x="1642369" y="858916"/>
            <a:ext cx="4808738" cy="2372557"/>
          </a:xfrm>
          <a:prstGeom prst="rect">
            <a:avLst/>
          </a:prstGeom>
        </p:spPr>
      </p:pic>
    </p:spTree>
    <p:extLst>
      <p:ext uri="{BB962C8B-B14F-4D97-AF65-F5344CB8AC3E}">
        <p14:creationId xmlns:p14="http://schemas.microsoft.com/office/powerpoint/2010/main" val="2778906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28658-1190-41FE-B50D-E29A5D0661C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 &amp; FUTURE SCOPE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436B67-4D74-4EAE-A243-6E5F2575F1C9}"/>
              </a:ext>
            </a:extLst>
          </p:cNvPr>
          <p:cNvSpPr>
            <a:spLocks noGrp="1"/>
          </p:cNvSpPr>
          <p:nvPr>
            <p:ph idx="1"/>
          </p:nvPr>
        </p:nvSpPr>
        <p:spPr>
          <a:xfrm>
            <a:off x="2589212" y="1642369"/>
            <a:ext cx="8915400" cy="4268853"/>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Conclusion:</a:t>
            </a:r>
          </a:p>
          <a:p>
            <a:pPr marL="0" indent="0" algn="just">
              <a:buNone/>
            </a:pPr>
            <a:r>
              <a:rPr lang="en-US" dirty="0">
                <a:latin typeface="Times New Roman" panose="02020603050405020304" pitchFamily="18" charset="0"/>
                <a:cs typeface="Times New Roman" panose="02020603050405020304" pitchFamily="18" charset="0"/>
              </a:rPr>
              <a:t>The Smartwatch Sentiment Analyzer project successfully demonstrates how customer feedback can be transformed into meaningful insights using simple yet powerful tools. By combining Streamlit for an interactive interface and TextBlob for sentiment analysis, the system provides quick and accurate interpretations of customer reviews for the ABC X1 Smartwatch. This enables ABC Company to better understand user opinions, recognize strengths, and identify areas for improvement. Overall, the project highlights the value of sentiment analysis in guiding product enhancement, strengthening customer satisfaction, and supporting informed decision-making in future product development.</a:t>
            </a:r>
          </a:p>
          <a:p>
            <a:pPr marL="0" indent="0">
              <a:buNone/>
            </a:pPr>
            <a:r>
              <a:rPr lang="en-US" b="1" dirty="0">
                <a:latin typeface="Times New Roman" panose="02020603050405020304" pitchFamily="18" charset="0"/>
                <a:cs typeface="Times New Roman" panose="02020603050405020304" pitchFamily="18" charset="0"/>
              </a:rPr>
              <a:t>Future Scope:</a:t>
            </a:r>
          </a:p>
          <a:p>
            <a:r>
              <a:rPr lang="en-US" dirty="0">
                <a:latin typeface="Times New Roman" panose="02020603050405020304" pitchFamily="18" charset="0"/>
                <a:cs typeface="Times New Roman" panose="02020603050405020304" pitchFamily="18" charset="0"/>
              </a:rPr>
              <a:t>Aspect-based sentiment analysis (battery, display, features)</a:t>
            </a:r>
          </a:p>
          <a:p>
            <a:r>
              <a:rPr lang="en-US" dirty="0">
                <a:latin typeface="Times New Roman" panose="02020603050405020304" pitchFamily="18" charset="0"/>
                <a:cs typeface="Times New Roman" panose="02020603050405020304" pitchFamily="18" charset="0"/>
              </a:rPr>
              <a:t>Multi-language support expansion</a:t>
            </a:r>
          </a:p>
          <a:p>
            <a:r>
              <a:rPr lang="en-US" dirty="0">
                <a:latin typeface="Times New Roman" panose="02020603050405020304" pitchFamily="18" charset="0"/>
                <a:cs typeface="Times New Roman" panose="02020603050405020304" pitchFamily="18" charset="0"/>
              </a:rPr>
              <a:t>Real-time dashboard for review monitoring</a:t>
            </a:r>
          </a:p>
          <a:p>
            <a:r>
              <a:rPr lang="en-US" dirty="0">
                <a:latin typeface="Times New Roman" panose="02020603050405020304" pitchFamily="18" charset="0"/>
                <a:cs typeface="Times New Roman" panose="02020603050405020304" pitchFamily="18" charset="0"/>
              </a:rPr>
              <a:t>Integration with customer support systems</a:t>
            </a:r>
          </a:p>
          <a:p>
            <a:r>
              <a:rPr lang="en-US" dirty="0">
                <a:latin typeface="Times New Roman" panose="02020603050405020304" pitchFamily="18" charset="0"/>
                <a:cs typeface="Times New Roman" panose="02020603050405020304" pitchFamily="18" charset="0"/>
              </a:rPr>
              <a:t>Mobile application deployment</a:t>
            </a:r>
          </a:p>
          <a:p>
            <a:pPr marL="0" indent="0">
              <a:buNone/>
            </a:pPr>
            <a:endParaRPr lang="en-IN" b="1" dirty="0"/>
          </a:p>
        </p:txBody>
      </p:sp>
    </p:spTree>
    <p:extLst>
      <p:ext uri="{BB962C8B-B14F-4D97-AF65-F5344CB8AC3E}">
        <p14:creationId xmlns:p14="http://schemas.microsoft.com/office/powerpoint/2010/main" val="137693579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149</TotalTime>
  <Words>477</Words>
  <Application>Microsoft Office PowerPoint</Application>
  <PresentationFormat>Widescreen</PresentationFormat>
  <Paragraphs>59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Century Gothic</vt:lpstr>
      <vt:lpstr>Times New Roman</vt:lpstr>
      <vt:lpstr>Wingdings 3</vt:lpstr>
      <vt:lpstr>Wisp</vt:lpstr>
      <vt:lpstr>SMARTWATCH SENTIMENT ANALYZER</vt:lpstr>
      <vt:lpstr>GROUP MEMBERS:</vt:lpstr>
      <vt:lpstr>PROBLEM STATEMENT &amp; OBJECTIVES</vt:lpstr>
      <vt:lpstr>PROPOSED SOLUTION &amp; WORKFLOW</vt:lpstr>
      <vt:lpstr>DATASET &amp; METHADOLOGY</vt:lpstr>
      <vt:lpstr>TECHNOLOGIES USED</vt:lpstr>
      <vt:lpstr>RESULTS &amp; FINDINGS </vt:lpstr>
      <vt:lpstr>CONCLUSION &amp; 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SMARTWATCH SENTIMENT ANALYZER</dc:title>
  <dc:creator>HP</dc:creator>
  <cp:lastModifiedBy>HP</cp:lastModifiedBy>
  <cp:revision>17</cp:revision>
  <dcterms:created xsi:type="dcterms:W3CDTF">2025-12-03T14:03:05Z</dcterms:created>
  <dcterms:modified xsi:type="dcterms:W3CDTF">2025-12-03T17:18:27Z</dcterms:modified>
</cp:coreProperties>
</file>